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274320"/>
            <a:ext cx="6400800" cy="2926080"/>
          </a:xfrm>
          <a:prstGeom prst="ellipse">
            <a:avLst/>
          </a:prstGeom>
          <a:solidFill>
            <a:srgbClr val="003050">
              <a:alpha val="70000"/>
            </a:srgbClr>
          </a:solidFill>
          <a:ln w="635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spc="200" kern="0" dirty="0">
                <a:solidFill>
                  <a:srgbClr val="00BFA5"/>
                </a:solidFill>
              </a:rPr>
              <a:t>LPA-Offload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Location Privacy-Aware Task Offloading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in Mobile Edge Computing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BAFC7"/>
                </a:solidFill>
              </a:rPr>
              <a:t>IEEE Transactions on Mobile Computing · Vol. 23, No. 3 · March 2024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54F"/>
                </a:solidFill>
              </a:rPr>
              <a:t>Wang, Sun, Liu, Hu, Pang, Hu &amp; Ren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81524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425196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0D3050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Differential Privacy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14600" y="425196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0D3050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MEC Task Offloading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00600" y="425196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0D3050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Location Perturbation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086600" y="425196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0D3050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F4F8"/>
                </a:solidFill>
              </a:rPr>
              <a:t>Multi-Server Security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FA5"/>
                </a:solidFill>
              </a:rPr>
              <a:t>MEC System: How Task Offloading Works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0" y="777240"/>
            <a:ext cx="3840480" cy="2377440"/>
          </a:xfrm>
          <a:prstGeom prst="rect">
            <a:avLst/>
          </a:prstGeom>
          <a:solidFill>
            <a:srgbClr val="1B2A4A"/>
          </a:solidFill>
          <a:ln w="1524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74920" y="822960"/>
            <a:ext cx="3749040" cy="2240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0" y="3200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FC7"/>
                </a:solidFill>
              </a:rPr>
              <a:t>Fig. 1 — MEC System with Multiple Servers  [Page 4]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365760" y="822960"/>
            <a:ext cx="448056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822960"/>
            <a:ext cx="54864" cy="8686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89611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</a:rPr>
              <a:t>Mobile Device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11247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Limited CPU, battery; runs resource-heavy apps (AR, face recognition)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1828800"/>
            <a:ext cx="448056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1828800"/>
            <a:ext cx="54864" cy="8686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9019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</a:rPr>
              <a:t>Wireless Channel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21305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Quality depends on distance dk to server → determines offload ratio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65760" y="2834640"/>
            <a:ext cx="448056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2834640"/>
            <a:ext cx="54864" cy="86868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9077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F"/>
                </a:solidFill>
              </a:rPr>
              <a:t>MEC Server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313639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10× more CPU than device; processes offloaded tasks in parallel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65760" y="3840480"/>
            <a:ext cx="448056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65760" y="3840480"/>
            <a:ext cx="54864" cy="86868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39136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F"/>
                </a:solidFill>
              </a:rPr>
              <a:t>Honest-but-Curious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41422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Servers follow protocol but collude to infer user location from task sizes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AFC7"/>
                </a:solidFill>
              </a:rPr>
              <a:t>Source: Section I &amp; III-B | Page 4 | Fig.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FA5"/>
                </a:solidFill>
              </a:rPr>
              <a:t>The Problem: Location Leakage via Task Offloading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4206240" cy="3566160"/>
          </a:xfrm>
          <a:prstGeom prst="rect">
            <a:avLst/>
          </a:prstGeom>
          <a:solidFill>
            <a:srgbClr val="1B2A4A"/>
          </a:solidFill>
          <a:ln w="1905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822960"/>
            <a:ext cx="4114800" cy="3246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370832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FC7"/>
                </a:solidFill>
              </a:rPr>
              <a:t>Fig. 2 — Location Disclosure in Multi-Server Scenario  [Page 6]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846320" y="7772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54F"/>
                </a:solidFill>
              </a:rPr>
              <a:t>HOW SERVERS INFER YOUR LOCATION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846320" y="1188720"/>
            <a:ext cx="347472" cy="347472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4632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①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321808" y="1207008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Server monitors size of tasks offloaded by user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1874520"/>
            <a:ext cx="347472" cy="347472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②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21808" y="1892808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Estimates channel rate Rk from task volume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46320" y="2560320"/>
            <a:ext cx="347472" cy="347472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2560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③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21808" y="2578608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Computes dk = [(Bn₀/p)·(2^(Rk/B)−1)]^(1/ϑ)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46320" y="3246120"/>
            <a:ext cx="347472" cy="347472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0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④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321808" y="3264408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Single server → knows approximate distance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46320" y="3931920"/>
            <a:ext cx="347472" cy="347472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0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⑤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321808" y="3950208"/>
            <a:ext cx="3529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3 colluding servers → triangulate exact (a,b)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846320" y="2926080"/>
            <a:ext cx="4023360" cy="804672"/>
          </a:xfrm>
          <a:prstGeom prst="rect">
            <a:avLst/>
          </a:prstGeom>
          <a:solidFill>
            <a:srgbClr val="0A2540"/>
          </a:solidFill>
          <a:ln w="1905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956048" y="2990088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5350"/>
                </a:solidFill>
              </a:rPr>
              <a:t>Distance Inference Formula  [Eq. 16, Page 5]: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956048" y="3182112"/>
            <a:ext cx="380390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d_k = [ (Bn₀/p) · (2^(Rk/B) − 1) ]^(1/ϑ)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AFC7"/>
                </a:solidFill>
              </a:rPr>
              <a:t>Source: Section III-D | Pages 5–6 | Fig. 2 | Eq.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FA5"/>
                </a:solidFill>
              </a:rPr>
              <a:t>Privacy Foundation: Differential Privacy Definitions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914400"/>
          </a:xfrm>
          <a:prstGeom prst="rect">
            <a:avLst/>
          </a:prstGeom>
          <a:solidFill>
            <a:srgbClr val="0A2540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75488" y="841248"/>
            <a:ext cx="8193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</a:rPr>
              <a:t>Definition 1 — ε-Differential Privacy  [Eq. 1, Page 4]: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1033272"/>
            <a:ext cx="8193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Pr[M(D) ∈ O]  ≤  e^ε · Pr[M(D') ∈ O]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8412480" cy="914400"/>
          </a:xfrm>
          <a:prstGeom prst="rect">
            <a:avLst/>
          </a:prstGeom>
          <a:solidFill>
            <a:srgbClr val="0A2540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938528"/>
            <a:ext cx="8193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FF"/>
                </a:solidFill>
              </a:rPr>
              <a:t>Definition 2 — (ε,δ)-Differential Privacy  [Eq. 2, Page 4]: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2130552"/>
            <a:ext cx="81930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Pr[M(D) ∈ O]  ≤  e^ε · Pr[M(D') ∈ O]  +  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4114800" cy="914400"/>
          </a:xfrm>
          <a:prstGeom prst="rect">
            <a:avLst/>
          </a:prstGeom>
          <a:solidFill>
            <a:srgbClr val="0A2540"/>
          </a:solidFill>
          <a:ln w="1905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2990088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54F"/>
                </a:solidFill>
              </a:rPr>
              <a:t>Definition 3 — Global Sensitivity  [Eq. 3, Page 4]: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3182112"/>
            <a:ext cx="3895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Δf  =  max_{D,D'∈𝒟}  || f(D) − f(D') ||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2926080"/>
            <a:ext cx="4114800" cy="914400"/>
          </a:xfrm>
          <a:prstGeom prst="rect">
            <a:avLst/>
          </a:prstGeom>
          <a:solidFill>
            <a:srgbClr val="0A2540"/>
          </a:solidFill>
          <a:ln w="1905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73168" y="2990088"/>
            <a:ext cx="3895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54F"/>
                </a:solidFill>
              </a:rPr>
              <a:t>Definition 4 — Laplace Mechanism  [Eq. 4, Page 4]: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73168" y="3182112"/>
            <a:ext cx="38953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M(D)  =  f(D)  +  Laplace(Δf / ε)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5760" y="40050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ε (epsilon):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40050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Privacy budget — closer to 0 = stronger privacy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40050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δ (delta): 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52160" y="40050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Probability of privacy loss exceeding ε bound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42793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M: 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71600" y="42793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Randomized algorithm (mechanism)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42793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D, D': 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52160" y="42793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Adjacent datasets differing in ≤ 1 element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AFC7"/>
                </a:solidFill>
              </a:rPr>
              <a:t>Source: Section III-A (Preliminaries) | Page 4 | Definitions 1–4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FA5"/>
                </a:solidFill>
              </a:rPr>
              <a:t>System Model &amp; Computation Cost Formulation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3931920" cy="777240"/>
          </a:xfrm>
          <a:prstGeom prst="rect">
            <a:avLst/>
          </a:prstGeom>
          <a:solidFill>
            <a:srgbClr val="0A2540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75488" y="841248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</a:rPr>
              <a:t>Total Cost  [Eq. 7, Page 5]: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1033272"/>
            <a:ext cx="371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 =  (1 − λ)·D  +  λ·E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0" y="777240"/>
            <a:ext cx="4297680" cy="777240"/>
          </a:xfrm>
          <a:prstGeom prst="rect">
            <a:avLst/>
          </a:prstGeom>
          <a:solidFill>
            <a:srgbClr val="0A2540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81728" y="841248"/>
            <a:ext cx="4078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FF"/>
                </a:solidFill>
              </a:rPr>
              <a:t>Shannon Rate  [Eq. 13, Page 5]: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81728" y="1033272"/>
            <a:ext cx="4078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Rk = B·log₂(1 + Hk·p/(B·n₀))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Hk = dk^(−ϑ)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3931920" cy="713232"/>
          </a:xfrm>
          <a:prstGeom prst="rect">
            <a:avLst/>
          </a:prstGeom>
          <a:solidFill>
            <a:srgbClr val="0A2540"/>
          </a:solidFill>
          <a:ln w="1905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1783080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54F"/>
                </a:solidFill>
              </a:rPr>
              <a:t>Local Delay  [Eq. 10]: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1975104"/>
            <a:ext cx="3712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 = Σᵢ (1−Σk xᵢk) · vᵢγ / fl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0" y="1719072"/>
            <a:ext cx="4297680" cy="713232"/>
          </a:xfrm>
          <a:prstGeom prst="rect">
            <a:avLst/>
          </a:prstGeom>
          <a:solidFill>
            <a:srgbClr val="0A2540"/>
          </a:solidFill>
          <a:ln w="1905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81728" y="1783080"/>
            <a:ext cx="4078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54F"/>
                </a:solidFill>
              </a:rPr>
              <a:t>Local Energy  [Eq. 11]: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81728" y="1975104"/>
            <a:ext cx="40782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= Σᵢ (1−Σk xᵢk) · κ·fl²·vᵢγ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2606040"/>
            <a:ext cx="3931920" cy="713232"/>
          </a:xfrm>
          <a:prstGeom prst="rect">
            <a:avLst/>
          </a:prstGeom>
          <a:solidFill>
            <a:srgbClr val="0A2540"/>
          </a:solidFill>
          <a:ln w="1905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" y="2670048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BB6A"/>
                </a:solidFill>
              </a:rPr>
              <a:t>Edge Delay  [Eq. 12]: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" y="2862072"/>
            <a:ext cx="371246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Dk = Σᵢ xᵢk · (vᵢ/Rk + vᵢγ/fk)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0" y="2606040"/>
            <a:ext cx="4297680" cy="713232"/>
          </a:xfrm>
          <a:prstGeom prst="rect">
            <a:avLst/>
          </a:prstGeom>
          <a:solidFill>
            <a:srgbClr val="0A2540"/>
          </a:solidFill>
          <a:ln w="1905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81728" y="2670048"/>
            <a:ext cx="4078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BB6A"/>
                </a:solidFill>
              </a:rPr>
              <a:t>Edge Energy  [Eq. 14]: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81728" y="2862072"/>
            <a:ext cx="40782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 = Σᵢ xᵢk · vᵢ·p / Rk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5760" y="3456432"/>
            <a:ext cx="8503920" cy="1463040"/>
          </a:xfrm>
          <a:prstGeom prst="rect">
            <a:avLst/>
          </a:prstGeom>
          <a:solidFill>
            <a:srgbClr val="1B2A4A"/>
          </a:solidFill>
          <a:ln w="10160">
            <a:solidFill>
              <a:srgbClr val="8BAF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35204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FA5"/>
                </a:solidFill>
              </a:rPr>
              <a:t>Key Symbols: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7490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• λ = weight delay vs energy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29000" y="37490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• fl/fk = CPU freq local/edge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9360" y="37490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• γ = CPU cycles/bit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9867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• κ = energy/CPU cycle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29000" y="39867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• vᵢ = task size (bits)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39867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</a:rPr>
              <a:t>• xᵢk = 1 if task i→server 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AFC7"/>
                </a:solidFill>
              </a:rPr>
              <a:t>Source: Section III-B &amp; III-C | Pages 4–5 | Eqs. 7–14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FA5"/>
                </a:solidFill>
              </a:rPr>
              <a:t>Design Objective: Maximizing System Utility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051560"/>
          </a:xfrm>
          <a:prstGeom prst="rect">
            <a:avLst/>
          </a:prstGeom>
          <a:solidFill>
            <a:srgbClr val="0A2540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75488" y="841248"/>
            <a:ext cx="8193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</a:rPr>
              <a:t>Master Objective  [Eq. 17, Page 6]: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1033272"/>
            <a:ext cx="8193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U  =  max { −[(1−ω)·C  +  ω·PL]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=  max { −(1−ω)[λ·E + (1−λ)·D] − ω·PL 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4114800" cy="2560320"/>
          </a:xfrm>
          <a:prstGeom prst="rect">
            <a:avLst/>
          </a:prstGeom>
          <a:solidFill>
            <a:srgbClr val="1B2A4A"/>
          </a:solidFill>
          <a:ln w="1524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084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</a:rPr>
              <a:t>Privacy Factor ω Controls Trade-off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ω→0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00200" y="24231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Prioritise efficiency, accept higher privacy leakage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89864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ω→1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00200" y="289864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Maximum privacy, higher computation cost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37413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ω=0.3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00200" y="3374136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Balanced — moderate privacy, near-optimal cost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84962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FF"/>
                </a:solidFill>
              </a:rPr>
              <a:t>ω=0.6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00200" y="3849624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Privacy-first — suitable for sensitive users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011680"/>
            <a:ext cx="4206240" cy="2560320"/>
          </a:xfrm>
          <a:prstGeom prst="rect">
            <a:avLst/>
          </a:prstGeom>
          <a:solidFill>
            <a:srgbClr val="0A2540"/>
          </a:solidFill>
          <a:ln w="1905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73168" y="2075688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54F"/>
                </a:solidFill>
              </a:rPr>
              <a:t>Perturbation Region Sub-problem  [Eqs. 21–22, Page 8]: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73168" y="2267712"/>
            <a:ext cx="398678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ζ = max_φ { −[(1−ω)(Cφ−Creal) + ω·PLφ] 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Cφ = ∫_φ Pr(ℓ|φ) · C dℓ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s.t.  Σk xᵢk ≤ 1,  xᵢk ∈ {0,1}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AFC7"/>
                </a:solidFill>
              </a:rPr>
              <a:t>Source: Section III-D &amp; IV-C | Pages 5–8 | Eqs. 17, 21,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FA5"/>
                </a:solidFill>
              </a:rPr>
              <a:t>LPA-Offload Framework Workflow  (Fig. 3)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3383280"/>
          </a:xfrm>
          <a:prstGeom prst="rect">
            <a:avLst/>
          </a:prstGeom>
          <a:solidFill>
            <a:srgbClr val="0A1520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749808"/>
            <a:ext cx="822960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11480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AFC7"/>
                </a:solidFill>
              </a:rPr>
              <a:t>Fig. 3 — Workflow of LPA-Offload for one mobile user  [Page 7]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57200" y="436168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FA5"/>
                </a:solidFill>
              </a:rPr>
              <a:t>① Find Perturbation Region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456285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FC7"/>
                </a:solidFill>
              </a:rPr>
              <a:t>PRDA-S / PRDA-M Algorithm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246120" y="436168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E5FF"/>
                </a:solidFill>
              </a:rPr>
              <a:t>② Generate Perturbed Location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246120" y="456285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FC7"/>
                </a:solidFill>
              </a:rPr>
              <a:t>Bounded Laplace PDF (Eqs.18/19)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035040" y="436168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54F"/>
                </a:solidFill>
              </a:rPr>
              <a:t>③ Generate Offloading Strategy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35040" y="456285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FC7"/>
                </a:solidFill>
              </a:rPr>
              <a:t>Traversal (single) / GA (multi)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AFC7"/>
                </a:solidFill>
              </a:rPr>
              <a:t>Source: Section IV-A | Page 6–7 | Fig. 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FA5"/>
                </a:solidFill>
              </a:rPr>
              <a:t>Location Perturbation: Single-Server + Fig. 4 Map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4754880" cy="1828800"/>
          </a:xfrm>
          <a:prstGeom prst="rect">
            <a:avLst/>
          </a:prstGeom>
          <a:solidFill>
            <a:srgbClr val="0A2540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75488" y="749808"/>
            <a:ext cx="4535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</a:rPr>
              <a:t>PDF for Distance Perturbation  [Eq. 18, Page 6–7]: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941832"/>
            <a:ext cx="45354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pdf(l*|l) = { (ε/2Δl)·e^(−|l*−l|/Δl)·(1/K),  l* ∈ [l₁,l₂]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{ 0,                                   otherwise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1 − ½·e^((l₁−l)/Δl) − ½·e^(−(l₂−l)/Δl)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Δl = l₂ − l₁  ;  [l₁,l₂] ⊆ [0, l_max]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2651760"/>
            <a:ext cx="4754880" cy="914400"/>
          </a:xfrm>
          <a:prstGeom prst="rect">
            <a:avLst/>
          </a:prstGeom>
          <a:solidFill>
            <a:srgbClr val="1B2A4A"/>
          </a:solidFill>
          <a:ln w="1524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7157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BB6A"/>
                </a:solidFill>
              </a:rPr>
              <a:t>Theorem 2 — ε-DP Proof  [Page 10]: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Pr(l*|l)/Pr(l*|l') = exp(|l*−l'|−|l*−l|/Δl) ≤ exp(|l−l'|/Δl) ≤ e^ε  ✓ satisfies ε-DP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49240" y="685800"/>
            <a:ext cx="3474720" cy="3154680"/>
          </a:xfrm>
          <a:prstGeom prst="rect">
            <a:avLst/>
          </a:prstGeom>
          <a:solidFill>
            <a:srgbClr val="0A1520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94960" y="731520"/>
            <a:ext cx="3383280" cy="30175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49240" y="38587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AFC7"/>
                </a:solidFill>
              </a:rPr>
              <a:t>Fig. 4 — Location Perturbation: single (User₁) &amp; multi-server (User₂)  [Page 7]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65760" y="3712464"/>
            <a:ext cx="4754880" cy="868680"/>
          </a:xfrm>
          <a:prstGeom prst="rect">
            <a:avLst/>
          </a:prstGeom>
          <a:solidFill>
            <a:srgbClr val="1B2A4A"/>
          </a:solidFill>
          <a:ln w="1524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" y="3712464"/>
            <a:ext cx="54864" cy="86868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" y="38039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F"/>
                </a:solidFill>
              </a:rPr>
              <a:t>Why Redesign Laplace?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30352" y="407822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Standard Laplace spans (−∞,+∞). Servers only cover [0,l_max]. Perturbation outside coverage makes no sense, so the PDF is clipped and renormalised to [l₁,l₂].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AFC7"/>
                </a:solidFill>
              </a:rPr>
              <a:t>Source: Section IV-B | Pages 6–7 | Eq. 18 | Theorem 2 | Fig. 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FA5"/>
                </a:solidFill>
              </a:rPr>
              <a:t>Location Perturbation: Multi-Server Scenario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1691640"/>
          </a:xfrm>
          <a:prstGeom prst="rect">
            <a:avLst/>
          </a:prstGeom>
          <a:solidFill>
            <a:srgbClr val="0A2540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75488" y="841248"/>
            <a:ext cx="8193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FF"/>
                </a:solidFill>
              </a:rPr>
              <a:t>2D Perturbation PDF — Multi-Server  [Eq. 19, Page 7]: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1033272"/>
            <a:ext cx="81930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Dε,R(r,θ) = (1/(θ₂−θ₁)) · (ε/2Δr) · e^(−εr/Δr) · (1/Z)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for r∈[0,R], θ∈[θ₁,θ₂]  ;  else 0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= (1−e^(−ε))/2  ;  Δr = 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Λ* = (a + r·cosθ,  b + r·sinθ)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2633472"/>
            <a:ext cx="8412480" cy="1097280"/>
          </a:xfrm>
          <a:prstGeom prst="rect">
            <a:avLst/>
          </a:prstGeom>
          <a:solidFill>
            <a:srgbClr val="0A2540"/>
          </a:solidFill>
          <a:ln w="1905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2697480"/>
            <a:ext cx="8193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54F"/>
                </a:solidFill>
              </a:rPr>
              <a:t>Valid Angle Range [θ₁,θ₂] — stay inside coverage  [Eq. 20, Page 7]: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2889504"/>
            <a:ext cx="8193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θ₁ = −(π + arccos[(R²+(a−a₁)²+(b−b₁)²−L₁²) / (2R√((a−a₁)²+(b−b₁)²))] − arctan[(b−b₁)²/(a−a₁)²])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θ₂ = arccos[(R²+(a−a₂)²+(b−b₂)²−L₂²) / (2R√((a−a₂)²+(b−b₂)²))] − arctan[(b−b₂)²/(a−a₂)²]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3858768"/>
            <a:ext cx="8412480" cy="777240"/>
          </a:xfrm>
          <a:prstGeom prst="rect">
            <a:avLst/>
          </a:prstGeom>
          <a:solidFill>
            <a:srgbClr val="1B2A4A"/>
          </a:solidFill>
          <a:ln w="1524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92277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BB6A"/>
                </a:solidFill>
              </a:rPr>
              <a:t>Theorem 3 — (ε,δ)-DP Proof  [Page 10]: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4133088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Pr(Λ*|Λ)/Pr(Λ*|Λ') = (θ₂'−θ₁')/(θ₂−θ₁) · e^ε  ≤  e^ε + δ   where δ = [(θ₂'−θ₁')/(θ₂−θ₁)−1]·e^ε·Pr(Λ*|Λ)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AFC7"/>
                </a:solidFill>
              </a:rPr>
              <a:t>Source: Section IV-B &amp; Theorem 3 | Pages 7, 10 | Eqs. 19,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FA5"/>
                </a:solidFill>
              </a:rPr>
              <a:t>Privacy Leakage Measurement (KL Divergence)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8412480" cy="868680"/>
          </a:xfrm>
          <a:prstGeom prst="rect">
            <a:avLst/>
          </a:prstGeom>
          <a:solidFill>
            <a:srgbClr val="0A2540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75488" y="841248"/>
            <a:ext cx="8193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A5"/>
                </a:solidFill>
              </a:rPr>
              <a:t>Privacy Leakage — Single-Server  [Eq. 23, Page 8]: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75488" y="1033272"/>
            <a:ext cx="8193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PL[l₁,l₂] = −log ∫_{l₁}^{l₂} Q(l*|l) · log[ Q(l*|l) / P(l*|l) ] dl*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8412480" cy="868680"/>
          </a:xfrm>
          <a:prstGeom prst="rect">
            <a:avLst/>
          </a:prstGeom>
          <a:solidFill>
            <a:srgbClr val="0A2540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892808"/>
            <a:ext cx="8193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FF"/>
                </a:solidFill>
              </a:rPr>
              <a:t>Privacy Leakage — Multi-Server  [Eq. 24, Page 8]: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2084832"/>
            <a:ext cx="8193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PL_R = −log ∫₀^R ∫_{θ₁}^{θ₂} Q(Λ*|Λ) · log[ Q(Λ*|Λ) / P(Λ*|Λ) ] dθ dr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2834640"/>
            <a:ext cx="5029200" cy="1417320"/>
          </a:xfrm>
          <a:prstGeom prst="rect">
            <a:avLst/>
          </a:prstGeom>
          <a:solidFill>
            <a:srgbClr val="0A2540"/>
          </a:solidFill>
          <a:ln w="1905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2898648"/>
            <a:ext cx="4809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54F"/>
                </a:solidFill>
              </a:rPr>
              <a:t>Experimental Metric  [Page 11]: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3090672"/>
            <a:ext cx="4809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Privacy Leakage = (1/H) · Σⱼ I(dⱼ* ≤ d_min)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I(·) = 1 if perturbed location within d_min of real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total number of perturbation runs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577840" y="2834640"/>
            <a:ext cx="3383280" cy="1417320"/>
          </a:xfrm>
          <a:prstGeom prst="rect">
            <a:avLst/>
          </a:prstGeom>
          <a:solidFill>
            <a:srgbClr val="0A2540"/>
          </a:solidFill>
          <a:ln w="1905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87568" y="2898648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6BB6A"/>
                </a:solidFill>
              </a:rPr>
              <a:t>Average Cost Metric  [Page 11]: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87568" y="3090672"/>
            <a:ext cx="3163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AvgCost = (1/H) · Σⱼ C(j)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C(j) = computation cost at trial j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(real location, fake-derived strategy)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5760" y="440740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AFC7"/>
                </a:solidFill>
              </a:rPr>
              <a:t>Insight: Larger perturbation region → lower PL (better privacy) but higher computation cost. KL divergence quantifies how much an adversary can distinguish real from perturbed location.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AFC7"/>
                </a:solidFill>
              </a:rPr>
              <a:t>Source: Section IV-C &amp; VI | Page 8, 11 | Eqs. 23,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FA5"/>
                </a:solidFill>
              </a:rPr>
              <a:t>Multi-Server Offloading: NP-Hard &amp; Genetic Algorithm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4023360" cy="2148840"/>
          </a:xfrm>
          <a:prstGeom prst="rect">
            <a:avLst/>
          </a:prstGeom>
          <a:solidFill>
            <a:srgbClr val="1B2A4A"/>
          </a:solidFill>
          <a:ln w="1905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850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5350"/>
                </a:solidFill>
              </a:rPr>
              <a:t>Theorem 1: Offloading = NP-Hard  [Page 9]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Special case (λ=0, ω=0, equal latency):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min_χ max_{k∈N} Σᵢ xᵢk·Dᵢ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s.t. Σk xᵢk ≤ 1, xᵢk ∈{0,1}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≡ Makespan min on parallel machines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NP-hard [Pinedo &amp; Hadavi, 1992]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663440" y="777240"/>
            <a:ext cx="4206240" cy="2148840"/>
          </a:xfrm>
          <a:prstGeom prst="rect">
            <a:avLst/>
          </a:prstGeom>
          <a:solidFill>
            <a:srgbClr val="1B2A4A"/>
          </a:solidFill>
          <a:ln w="1905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8503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F"/>
                </a:solidFill>
              </a:rPr>
              <a:t>GA — Offloading Strategy  [Page 9–10]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207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① Init s=200 random chromosomes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46320" y="1481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② Evaluate utility U = −[(1−ω)C + ω·PL]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0" y="17556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③ Select s·α parents (α=0.7)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46320" y="20299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④ Crossover + mutate (β=0.2)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0" y="2304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⑤ Keep top-s; repeat until convergence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25786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54F"/>
                </a:solidFill>
              </a:rPr>
              <a:t>⑥ Max-utility chromosome = χ*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90672"/>
            <a:ext cx="8412480" cy="1143000"/>
          </a:xfrm>
          <a:prstGeom prst="rect">
            <a:avLst/>
          </a:prstGeom>
          <a:solidFill>
            <a:srgbClr val="0A2540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" y="3154680"/>
            <a:ext cx="8193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E5FF"/>
                </a:solidFill>
              </a:rPr>
              <a:t>Chromosome Encoding  [Fig. 5, Page 10]: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" y="3346704"/>
            <a:ext cx="8193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Chromosome Gᵢ = [4, 3, 0, 2, 5]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t₁→s₄  t₂→s₃  t₃→local  t₄→s₂  t₅→s₅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Utility: U = −[(1−ω)·C(χ) + ω·PL(χ)]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5760" y="435254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FC7"/>
                </a:solidFill>
              </a:rPr>
              <a:t>Settings: s=200 | α=0.7 | β=0.2 | Python, Intel i5, 8GB RAM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AFC7"/>
                </a:solidFill>
              </a:rPr>
              <a:t>Source: Section IV-D &amp; Theorem 1 | Pages 9–10 | Fig. 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FA5"/>
                </a:solidFill>
              </a:rPr>
              <a:t>Parameter Evaluation: ω &amp; ε Effects  (Figs. 6 &amp; 7)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74920" y="685800"/>
            <a:ext cx="3794760" cy="2057400"/>
          </a:xfrm>
          <a:prstGeom prst="rect">
            <a:avLst/>
          </a:prstGeom>
          <a:solidFill>
            <a:srgbClr val="0A1520"/>
          </a:solidFill>
          <a:ln w="1524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749808"/>
            <a:ext cx="3703320" cy="19019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74920" y="2770632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AFC7"/>
                </a:solidFill>
              </a:rPr>
              <a:t>Fig. 6 — PL &amp; Cost vs ω (privacy factor)  [Page 11]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074920" y="2926080"/>
            <a:ext cx="3794760" cy="2057400"/>
          </a:xfrm>
          <a:prstGeom prst="rect">
            <a:avLst/>
          </a:prstGeom>
          <a:solidFill>
            <a:srgbClr val="0A1520"/>
          </a:solidFill>
          <a:ln w="1524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20640" y="2990088"/>
            <a:ext cx="3703320" cy="19019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74920" y="5010912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AFC7"/>
                </a:solidFill>
              </a:rPr>
              <a:t>Fig. 7 — PL &amp; Cost vs ε (privacy budget)  [Page 11]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365760" y="685800"/>
            <a:ext cx="4572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65760" y="685800"/>
            <a:ext cx="54864" cy="9144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7772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</a:rPr>
              <a:t>↑ω → ↓ Privacy Leakage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" y="10515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Higher privacy factor → larger perturbation region → fake location farther from real → attacker cannot infer position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65760" y="1691640"/>
            <a:ext cx="4572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5760" y="1691640"/>
            <a:ext cx="54864" cy="91440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8640" y="17830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F"/>
                </a:solidFill>
              </a:rPr>
              <a:t>↑ω → ↑ Avg Cost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8640" y="2057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Larger region → fake location farther → offloading strategy deviates more from optimal → higher computation cost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65760" y="2697480"/>
            <a:ext cx="4572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2697480"/>
            <a:ext cx="54864" cy="91440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48640" y="27889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5350"/>
                </a:solidFill>
              </a:rPr>
              <a:t>↑ε → ↑ Privacy Leakage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48640" y="3063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Larger ε = weaker guarantee → perturbed location stays close to real → higher leakage risk, but lower cost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65760" y="3703320"/>
            <a:ext cx="4572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65760" y="3703320"/>
            <a:ext cx="54864" cy="91440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48640" y="37947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BB6A"/>
                </a:solidFill>
              </a:rPr>
              <a:t>Multi &lt; Single Cost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48640" y="4069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More parallel servers reduce computing delay. Smaller cost prompts system to expand perturbation region, so privacy leakage also drops.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AFC7"/>
                </a:solidFill>
              </a:rPr>
              <a:t>Source: Section VI-A | Page 11 | Figs. 6, 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FA5"/>
                </a:solidFill>
              </a:rPr>
              <a:t>Inference Attack Evaluation  (Fig. 8)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331720"/>
          </a:xfrm>
          <a:prstGeom prst="rect">
            <a:avLst/>
          </a:prstGeom>
          <a:solidFill>
            <a:srgbClr val="0A1520"/>
          </a:solidFill>
          <a:ln w="1905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749808"/>
            <a:ext cx="8229600" cy="2148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305409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AFC7"/>
                </a:solidFill>
              </a:rPr>
              <a:t>Fig. 8 — DN comparison PATO vs LPA-Offload (left: per time slot, right: sum over 5 slots)  [Page 12]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65760" y="3218688"/>
            <a:ext cx="2816352" cy="1554480"/>
          </a:xfrm>
          <a:prstGeom prst="rect">
            <a:avLst/>
          </a:prstGeom>
          <a:solidFill>
            <a:srgbClr val="1B2A4A"/>
          </a:solidFill>
          <a:ln w="1524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3218688"/>
            <a:ext cx="54864" cy="155448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" y="331012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5350"/>
                </a:solidFill>
              </a:rPr>
              <a:t>PATO — Vulnerable ⚠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0352" y="3584448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Sum of DN for 5 time slots = always 10 (constant). Attacker monitors this constant → deduces wireless channel conditions → infers real location over time.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10128" y="3218688"/>
            <a:ext cx="2816352" cy="1554480"/>
          </a:xfrm>
          <a:prstGeom prst="rect">
            <a:avLst/>
          </a:prstGeom>
          <a:solidFill>
            <a:srgbClr val="1B2A4A"/>
          </a:solidFill>
          <a:ln w="1524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10128" y="3218688"/>
            <a:ext cx="54864" cy="155448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74720" y="331012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BB6A"/>
                </a:solidFill>
              </a:rPr>
              <a:t>LPA-Offload — Resistant ✓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74720" y="3584448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DN varies randomly because differential privacy adds randomness to the offloading strategy. Attacker sees noise — cannot extract channel conditions or location.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54496" y="3218688"/>
            <a:ext cx="2816352" cy="1554480"/>
          </a:xfrm>
          <a:prstGeom prst="rect">
            <a:avLst/>
          </a:prstGeom>
          <a:solidFill>
            <a:srgbClr val="1B2A4A"/>
          </a:solidFill>
          <a:ln w="1524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54496" y="3218688"/>
            <a:ext cx="54864" cy="155448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19088" y="3310128"/>
            <a:ext cx="2542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F"/>
                </a:solidFill>
              </a:rPr>
              <a:t>Why PATO Fails Long-Term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19088" y="3584448"/>
            <a:ext cx="25420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</a:rPr>
              <a:t>PATO uses a static privacy threshold → constant difference between generated and offloaded tasks → attacker can track this regularity across time slots.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AFC7"/>
                </a:solidFill>
              </a:rPr>
              <a:t>Source: Section VI-B | Page 12 | Fig. 8 | EUA Dataset (Melbourne)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FA5"/>
                </a:solidFill>
              </a:rPr>
              <a:t>Performance vs Benchmarks  (Figs. 9 &amp; 10)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349240" y="685800"/>
            <a:ext cx="3474720" cy="2011680"/>
          </a:xfrm>
          <a:prstGeom prst="rect">
            <a:avLst/>
          </a:prstGeom>
          <a:solidFill>
            <a:srgbClr val="0A1520"/>
          </a:solidFill>
          <a:ln w="1524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94960" y="749808"/>
            <a:ext cx="338328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49240" y="272491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AFC7"/>
                </a:solidFill>
              </a:rPr>
              <a:t>Fig. 9 — PL &amp; Cost vs Distance (single-server)  [Page 12]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349240" y="2880360"/>
            <a:ext cx="3474720" cy="2011680"/>
          </a:xfrm>
          <a:prstGeom prst="rect">
            <a:avLst/>
          </a:prstGeom>
          <a:solidFill>
            <a:srgbClr val="0A1520"/>
          </a:solidFill>
          <a:ln w="15240">
            <a:solidFill>
              <a:srgbClr val="00E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94960" y="2944368"/>
            <a:ext cx="3383280" cy="1828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49240" y="49194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AFC7"/>
                </a:solidFill>
              </a:rPr>
              <a:t>Fig. 10 — PL &amp; Cost vs Server Number (multi-server)  [Pages 12–13]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365760" y="7498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54F"/>
                </a:solidFill>
              </a:rPr>
              <a:t>BENCHMARK COMPARISON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65760" y="1115568"/>
            <a:ext cx="475488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5760" y="1115568"/>
            <a:ext cx="54864" cy="7772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1188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5350"/>
                </a:solidFill>
              </a:rPr>
              <a:t>OFDMA [53]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48640" y="14630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PL: PL ≈ 1.0  (no protection)   |   Cost: Optimal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5760" y="2011680"/>
            <a:ext cx="475488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8BAFC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2011680"/>
            <a:ext cx="54864" cy="777240"/>
          </a:xfrm>
          <a:prstGeom prst="rect">
            <a:avLst/>
          </a:prstGeom>
          <a:solidFill>
            <a:srgbClr val="8BAFC7"/>
          </a:solidFill>
          <a:ln w="12700">
            <a:solidFill>
              <a:srgbClr val="8BAFC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8640" y="20848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AFC7"/>
                </a:solidFill>
              </a:rPr>
              <a:t>PATO [6]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48640" y="235915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PL: Static threshold, vulnerable long-term   |   Cost: Low overhead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65760" y="2907792"/>
            <a:ext cx="475488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2907792"/>
            <a:ext cx="54864" cy="77724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48640" y="298094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F"/>
                </a:solidFill>
              </a:rPr>
              <a:t>MaxRange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48640" y="325526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PL: Low PL (max region)   |   Cost: ~2× higher cost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365760" y="3803904"/>
            <a:ext cx="4754880" cy="777240"/>
          </a:xfrm>
          <a:prstGeom prst="rect">
            <a:avLst/>
          </a:prstGeom>
          <a:solidFill>
            <a:srgbClr val="1B2A4A"/>
          </a:solidFill>
          <a:ln w="2540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65760" y="3803904"/>
            <a:ext cx="54864" cy="77724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48640" y="38770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BB6A"/>
                </a:solidFill>
              </a:rPr>
              <a:t>LPA-Offload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548640" y="415137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</a:rPr>
              <a:t>PL: Low PL ≈ MaxRange   |   Cost: ≈ OFDMA  ✓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365760" y="477316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FC7"/>
                </a:solidFill>
              </a:rPr>
              <a:t>Key: LPA-Offload achieves low privacy leakage comparable to MaxRange but at near-optimal computation cost — matching OFDMA which has zero privacy protection.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AFC7"/>
                </a:solidFill>
              </a:rPr>
              <a:t>Source: Section VI-C | Pages 12–13 | Figs. 9, 10, 12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FA5"/>
                </a:solidFill>
              </a:rPr>
              <a:t>Benchmark Comparison Summary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77240"/>
          <a:ext cx="8412480" cy="3200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188720"/>
                <a:gridCol w="1828800"/>
                <a:gridCol w="1371600"/>
                <a:gridCol w="118872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Guarantee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Attack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Personalized 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53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OFDMA [53]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(PL≈1)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AFC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PATO [6]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threshold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Vulnerable long-term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overhead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D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(max region)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~2× overhead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8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53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6BB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LPA-Offload (ours)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(ε,δ)-DP proven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≈OFDMA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1E3A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520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solidFill>
            <a:srgbClr val="0F2A1A"/>
          </a:solidFill>
          <a:ln w="1905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48640" y="423367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BB6A"/>
                </a:solidFill>
              </a:rPr>
              <a:t>✔  LPA-Offload is the ONLY framework with: provable (ε,δ)-DP guarantee + multi-server collusion protection + personalized privacy factor ω + near-optimal computation cost.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BAFC7"/>
                </a:solidFill>
              </a:rPr>
              <a:t>Source: Section II, VI | Pages 3–4, 11–13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0"/>
            <a:ext cx="5486400" cy="2743200"/>
          </a:xfrm>
          <a:prstGeom prst="ellipse">
            <a:avLst/>
          </a:prstGeom>
          <a:solidFill>
            <a:srgbClr val="003050">
              <a:alpha val="60000"/>
            </a:srgbClr>
          </a:solidFill>
          <a:ln w="635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FA5"/>
                </a:solidFill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47472" cy="347472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978408"/>
            <a:ext cx="7936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LPA-Offload provides provable (ε,δ)-DP location privacy for BOTH single and multi-server MEC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347472" cy="347472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1737360"/>
            <a:ext cx="7936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Three-stage pipeline: region determination → bounded Laplace perturbation → GA-based offloading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78024"/>
            <a:ext cx="347472" cy="347472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78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2496312"/>
            <a:ext cx="7936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Computation cost ≈ OFDMA (state-of-art without privacy) — privacy comes nearly for free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236976"/>
            <a:ext cx="347472" cy="347472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3255264"/>
            <a:ext cx="7936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Personalized ω lets users dynamically tune privacy-efficiency trade-off to their own needs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995928"/>
            <a:ext cx="347472" cy="347472"/>
          </a:xfrm>
          <a:prstGeom prst="ellipse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9959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4014216"/>
            <a:ext cx="7936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</a:rPr>
              <a:t>Resistant to long-term inference attacks (unlike static-threshold methods like PATO)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AFC7"/>
                </a:solidFill>
              </a:rPr>
              <a:t>IEEE TMC Vol. 23 No. 3 · DOI: 10.1109/TMC.2023.3254553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LPA-Offload: Location Privacy-Aware Task Offloading in MEC</dc:title>
  <dc:subject>PptxGenJS Presentation</dc:subject>
  <dc:creator>PptxGenJS</dc:creator>
  <cp:lastModifiedBy>PptxGenJS</cp:lastModifiedBy>
  <cp:revision>1</cp:revision>
  <dcterms:created xsi:type="dcterms:W3CDTF">2026-04-26T17:20:01Z</dcterms:created>
  <dcterms:modified xsi:type="dcterms:W3CDTF">2026-04-26T17:20:01Z</dcterms:modified>
</cp:coreProperties>
</file>